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Koho" panose="020B0604020202020204" charset="-34"/>
      <p:regular r:id="rId10"/>
    </p:embeddedFont>
    <p:embeddedFont>
      <p:font typeface="Koho Bold" panose="020B0604020202020204" charset="-34"/>
      <p:regular r:id="rId11"/>
    </p:embeddedFont>
    <p:embeddedFont>
      <p:font typeface="Neo Tech Bold"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0" d="100"/>
          <a:sy n="50" d="100"/>
        </p:scale>
        <p:origin x="874"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sv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040241" y="2260020"/>
            <a:ext cx="10250697" cy="2487861"/>
          </a:xfrm>
          <a:prstGeom prst="rect">
            <a:avLst/>
          </a:prstGeom>
        </p:spPr>
        <p:txBody>
          <a:bodyPr wrap="square" lIns="0" tIns="0" rIns="0" bIns="0" rtlCol="0" anchor="t">
            <a:spAutoFit/>
          </a:bodyPr>
          <a:lstStyle/>
          <a:p>
            <a:pPr marL="0" lvl="0" indent="0" algn="l">
              <a:lnSpc>
                <a:spcPts val="9666"/>
              </a:lnSpc>
            </a:pPr>
            <a:r>
              <a:rPr lang="en-US" sz="8478" b="1" dirty="0">
                <a:solidFill>
                  <a:srgbClr val="005FC2"/>
                </a:solidFill>
                <a:latin typeface="Neo Tech Bold"/>
                <a:ea typeface="Neo Tech Bold"/>
                <a:cs typeface="Neo Tech Bold"/>
                <a:sym typeface="Neo Tech Bold"/>
              </a:rPr>
              <a:t>DOCKER CONTAINERIZATION</a:t>
            </a:r>
          </a:p>
        </p:txBody>
      </p:sp>
      <p:sp>
        <p:nvSpPr>
          <p:cNvPr id="3" name="Freeform 3"/>
          <p:cNvSpPr/>
          <p:nvPr/>
        </p:nvSpPr>
        <p:spPr>
          <a:xfrm flipH="1">
            <a:off x="13385373" y="-2247900"/>
            <a:ext cx="4887387" cy="7680363"/>
          </a:xfrm>
          <a:custGeom>
            <a:avLst/>
            <a:gdLst/>
            <a:ahLst/>
            <a:cxnLst/>
            <a:rect l="l" t="t" r="r" b="b"/>
            <a:pathLst>
              <a:path w="7161170" h="10230243">
                <a:moveTo>
                  <a:pt x="7161170" y="0"/>
                </a:moveTo>
                <a:lnTo>
                  <a:pt x="0" y="0"/>
                </a:lnTo>
                <a:lnTo>
                  <a:pt x="0" y="10230242"/>
                </a:lnTo>
                <a:lnTo>
                  <a:pt x="7161170" y="10230242"/>
                </a:lnTo>
                <a:lnTo>
                  <a:pt x="716117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TextBox 4"/>
          <p:cNvSpPr txBox="1"/>
          <p:nvPr/>
        </p:nvSpPr>
        <p:spPr>
          <a:xfrm>
            <a:off x="6248400" y="5734877"/>
            <a:ext cx="7904862" cy="807913"/>
          </a:xfrm>
          <a:prstGeom prst="rect">
            <a:avLst/>
          </a:prstGeom>
        </p:spPr>
        <p:txBody>
          <a:bodyPr wrap="square" lIns="0" tIns="0" rIns="0" bIns="0" rtlCol="0" anchor="t">
            <a:spAutoFit/>
          </a:bodyPr>
          <a:lstStyle/>
          <a:p>
            <a:pPr lvl="0">
              <a:lnSpc>
                <a:spcPts val="6284"/>
              </a:lnSpc>
            </a:pPr>
            <a:r>
              <a:rPr lang="en-US" sz="5513" b="1" dirty="0">
                <a:solidFill>
                  <a:srgbClr val="005FC2"/>
                </a:solidFill>
                <a:latin typeface="Koho Bold"/>
                <a:ea typeface="Koho Bold"/>
                <a:cs typeface="Koho Bold"/>
                <a:sym typeface="Koho Bold"/>
              </a:rPr>
              <a:t>Finance Tracker Project</a:t>
            </a:r>
          </a:p>
        </p:txBody>
      </p:sp>
      <p:sp>
        <p:nvSpPr>
          <p:cNvPr id="5" name="Freeform 5"/>
          <p:cNvSpPr/>
          <p:nvPr/>
        </p:nvSpPr>
        <p:spPr>
          <a:xfrm rot="-151067" flipV="1">
            <a:off x="-96835" y="3975385"/>
            <a:ext cx="6453582" cy="9515534"/>
          </a:xfrm>
          <a:custGeom>
            <a:avLst/>
            <a:gdLst/>
            <a:ahLst/>
            <a:cxnLst/>
            <a:rect l="l" t="t" r="r" b="b"/>
            <a:pathLst>
              <a:path w="7161170" h="10230243">
                <a:moveTo>
                  <a:pt x="0" y="10230242"/>
                </a:moveTo>
                <a:lnTo>
                  <a:pt x="7161170" y="10230242"/>
                </a:lnTo>
                <a:lnTo>
                  <a:pt x="7161170" y="0"/>
                </a:lnTo>
                <a:lnTo>
                  <a:pt x="0" y="0"/>
                </a:lnTo>
                <a:lnTo>
                  <a:pt x="0" y="10230242"/>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325238" y="-1294162"/>
            <a:ext cx="7793442" cy="4080930"/>
          </a:xfrm>
          <a:custGeom>
            <a:avLst/>
            <a:gdLst/>
            <a:ahLst/>
            <a:cxnLst/>
            <a:rect l="l" t="t" r="r" b="b"/>
            <a:pathLst>
              <a:path w="7793442" h="4080930">
                <a:moveTo>
                  <a:pt x="0" y="0"/>
                </a:moveTo>
                <a:lnTo>
                  <a:pt x="7793442" y="0"/>
                </a:lnTo>
                <a:lnTo>
                  <a:pt x="7793442" y="4080930"/>
                </a:lnTo>
                <a:lnTo>
                  <a:pt x="0" y="408093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12268200" y="7435933"/>
            <a:ext cx="7793442" cy="4080930"/>
          </a:xfrm>
          <a:custGeom>
            <a:avLst/>
            <a:gdLst/>
            <a:ahLst/>
            <a:cxnLst/>
            <a:rect l="l" t="t" r="r" b="b"/>
            <a:pathLst>
              <a:path w="7793442" h="4080930">
                <a:moveTo>
                  <a:pt x="0" y="0"/>
                </a:moveTo>
                <a:lnTo>
                  <a:pt x="7793442" y="0"/>
                </a:lnTo>
                <a:lnTo>
                  <a:pt x="7793442" y="4080930"/>
                </a:lnTo>
                <a:lnTo>
                  <a:pt x="0" y="408093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3" name="TextBox 12">
            <a:extLst>
              <a:ext uri="{FF2B5EF4-FFF2-40B4-BE49-F238E27FC236}">
                <a16:creationId xmlns:a16="http://schemas.microsoft.com/office/drawing/2014/main" id="{D7520FBE-B671-2B71-DD5F-1867FE557CA5}"/>
              </a:ext>
            </a:extLst>
          </p:cNvPr>
          <p:cNvSpPr txBox="1"/>
          <p:nvPr/>
        </p:nvSpPr>
        <p:spPr>
          <a:xfrm>
            <a:off x="6233160" y="7435933"/>
            <a:ext cx="9357360" cy="1323439"/>
          </a:xfrm>
          <a:prstGeom prst="rect">
            <a:avLst/>
          </a:prstGeom>
          <a:noFill/>
          <a:ln>
            <a:noFill/>
          </a:ln>
        </p:spPr>
        <p:txBody>
          <a:bodyPr wrap="square">
            <a:spAutoFit/>
          </a:bodyPr>
          <a:lstStyle/>
          <a:p>
            <a:r>
              <a:rPr lang="en-US" sz="4000" dirty="0">
                <a:solidFill>
                  <a:srgbClr val="0070C0"/>
                </a:solidFill>
                <a:latin typeface="Koho Bold" panose="020B0604020202020204" charset="-34"/>
                <a:cs typeface="Koho Bold" panose="020B0604020202020204" charset="-34"/>
              </a:rPr>
              <a:t>N</a:t>
            </a:r>
            <a:r>
              <a:rPr lang="en-IN" sz="4000" dirty="0" err="1">
                <a:solidFill>
                  <a:srgbClr val="0070C0"/>
                </a:solidFill>
                <a:latin typeface="Koho Bold" panose="020B0604020202020204" charset="-34"/>
                <a:cs typeface="Koho Bold" panose="020B0604020202020204" charset="-34"/>
              </a:rPr>
              <a:t>ame</a:t>
            </a:r>
            <a:r>
              <a:rPr lang="en-IN" sz="4000" dirty="0">
                <a:solidFill>
                  <a:srgbClr val="0070C0"/>
                </a:solidFill>
                <a:latin typeface="Koho Bold" panose="020B0604020202020204" charset="-34"/>
                <a:cs typeface="Koho Bold" panose="020B0604020202020204" charset="-34"/>
              </a:rPr>
              <a:t>:-Samarth Chandrashekhar </a:t>
            </a:r>
            <a:r>
              <a:rPr lang="en-IN" sz="4000" dirty="0" err="1">
                <a:solidFill>
                  <a:srgbClr val="0070C0"/>
                </a:solidFill>
                <a:latin typeface="Koho Bold" panose="020B0604020202020204" charset="-34"/>
                <a:cs typeface="Koho Bold" panose="020B0604020202020204" charset="-34"/>
              </a:rPr>
              <a:t>Sabale</a:t>
            </a:r>
            <a:endParaRPr lang="en-IN" sz="4000" dirty="0">
              <a:solidFill>
                <a:srgbClr val="0070C0"/>
              </a:solidFill>
              <a:latin typeface="Koho Bold" panose="020B0604020202020204" charset="-34"/>
              <a:cs typeface="Koho Bold" panose="020B0604020202020204" charset="-34"/>
            </a:endParaRPr>
          </a:p>
          <a:p>
            <a:r>
              <a:rPr lang="en-IN" sz="4000" dirty="0">
                <a:solidFill>
                  <a:srgbClr val="0070C0"/>
                </a:solidFill>
                <a:latin typeface="Koho Bold" panose="020B0604020202020204" charset="-34"/>
                <a:cs typeface="Koho Bold" panose="020B0604020202020204" charset="-34"/>
              </a:rPr>
              <a:t>Batch :- AWS batch 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450420" y="1605448"/>
            <a:ext cx="10894849" cy="1238210"/>
          </a:xfrm>
          <a:prstGeom prst="rect">
            <a:avLst/>
          </a:prstGeom>
        </p:spPr>
        <p:txBody>
          <a:bodyPr lIns="0" tIns="0" rIns="0" bIns="0" rtlCol="0" anchor="t">
            <a:spAutoFit/>
          </a:bodyPr>
          <a:lstStyle/>
          <a:p>
            <a:pPr marL="0" lvl="0" indent="0" algn="ctr">
              <a:lnSpc>
                <a:spcPts val="8543"/>
              </a:lnSpc>
            </a:pPr>
            <a:r>
              <a:rPr lang="en-US" sz="7494" b="1" dirty="0">
                <a:solidFill>
                  <a:srgbClr val="005FC2"/>
                </a:solidFill>
                <a:latin typeface="Neo Tech Bold"/>
                <a:ea typeface="Neo Tech Bold"/>
                <a:cs typeface="Neo Tech Bold"/>
                <a:sym typeface="Neo Tech Bold"/>
              </a:rPr>
              <a:t>PROBLEM STATEMENT</a:t>
            </a:r>
          </a:p>
        </p:txBody>
      </p:sp>
      <p:sp>
        <p:nvSpPr>
          <p:cNvPr id="3" name="TextBox 3"/>
          <p:cNvSpPr txBox="1"/>
          <p:nvPr/>
        </p:nvSpPr>
        <p:spPr>
          <a:xfrm>
            <a:off x="5403738" y="3314700"/>
            <a:ext cx="8868773" cy="4847481"/>
          </a:xfrm>
          <a:prstGeom prst="rect">
            <a:avLst/>
          </a:prstGeom>
        </p:spPr>
        <p:txBody>
          <a:bodyPr lIns="0" tIns="0" rIns="0" bIns="0" rtlCol="0" anchor="t">
            <a:spAutoFit/>
          </a:bodyPr>
          <a:lstStyle/>
          <a:p>
            <a:pPr marL="0" lvl="0" indent="0" algn="just">
              <a:lnSpc>
                <a:spcPts val="2738"/>
              </a:lnSpc>
            </a:pPr>
            <a:r>
              <a:rPr lang="en-US" sz="2402" dirty="0">
                <a:solidFill>
                  <a:srgbClr val="005FC2"/>
                </a:solidFill>
                <a:latin typeface="Koho"/>
                <a:ea typeface="Koho"/>
                <a:cs typeface="Koho"/>
                <a:sym typeface="Koho"/>
              </a:rPr>
              <a:t>Traditional deployment of financial applications like Finance Tracker often faces significant challenges, primarily the "it works on my machine" syndrome where code behaves differently across local development and cloud production environments. Without containerization, manual setup on AWS EC2 involves complex dependency management, inconsistent Python configurations, and potential library conflicts that lead to deployment failures and wasted time. Furthermore, managing persistent data—such as financial transactions—is a major hurdle, as data can be lost during container restarts or environment updates. Docker containerization solves these issues by packaging the Flask application with all its dependencies into an isolated, portable container, ensuring reliable performance and data persistence through volume mounting on the cloud..</a:t>
            </a:r>
          </a:p>
        </p:txBody>
      </p:sp>
      <p:sp>
        <p:nvSpPr>
          <p:cNvPr id="4" name="Freeform 4"/>
          <p:cNvSpPr/>
          <p:nvPr/>
        </p:nvSpPr>
        <p:spPr>
          <a:xfrm rot="-7720815">
            <a:off x="-5135904" y="5451776"/>
            <a:ext cx="13836366" cy="7245224"/>
          </a:xfrm>
          <a:custGeom>
            <a:avLst/>
            <a:gdLst/>
            <a:ahLst/>
            <a:cxnLst/>
            <a:rect l="l" t="t" r="r" b="b"/>
            <a:pathLst>
              <a:path w="13836366" h="7245224">
                <a:moveTo>
                  <a:pt x="0" y="0"/>
                </a:moveTo>
                <a:lnTo>
                  <a:pt x="13836366" y="0"/>
                </a:lnTo>
                <a:lnTo>
                  <a:pt x="13836366" y="7245224"/>
                </a:lnTo>
                <a:lnTo>
                  <a:pt x="0" y="724522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rot="-8367064" flipH="1">
            <a:off x="10341117" y="-1585888"/>
            <a:ext cx="13836366" cy="7245224"/>
          </a:xfrm>
          <a:custGeom>
            <a:avLst/>
            <a:gdLst/>
            <a:ahLst/>
            <a:cxnLst/>
            <a:rect l="l" t="t" r="r" b="b"/>
            <a:pathLst>
              <a:path w="13836366" h="7245224">
                <a:moveTo>
                  <a:pt x="13836366" y="0"/>
                </a:moveTo>
                <a:lnTo>
                  <a:pt x="0" y="0"/>
                </a:lnTo>
                <a:lnTo>
                  <a:pt x="0" y="7245225"/>
                </a:lnTo>
                <a:lnTo>
                  <a:pt x="13836366" y="7245225"/>
                </a:lnTo>
                <a:lnTo>
                  <a:pt x="13836366"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4039552" y="3771900"/>
            <a:ext cx="937511" cy="1125672"/>
          </a:xfrm>
          <a:custGeom>
            <a:avLst/>
            <a:gdLst/>
            <a:ahLst/>
            <a:cxnLst/>
            <a:rect l="l" t="t" r="r" b="b"/>
            <a:pathLst>
              <a:path w="947448" h="947448">
                <a:moveTo>
                  <a:pt x="0" y="0"/>
                </a:moveTo>
                <a:lnTo>
                  <a:pt x="947448" y="0"/>
                </a:lnTo>
                <a:lnTo>
                  <a:pt x="947448" y="947448"/>
                </a:lnTo>
                <a:lnTo>
                  <a:pt x="0" y="947448"/>
                </a:lnTo>
                <a:lnTo>
                  <a:pt x="0"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5FC2"/>
        </a:solidFill>
        <a:effectLst/>
      </p:bgPr>
    </p:bg>
    <p:spTree>
      <p:nvGrpSpPr>
        <p:cNvPr id="1" name=""/>
        <p:cNvGrpSpPr/>
        <p:nvPr/>
      </p:nvGrpSpPr>
      <p:grpSpPr>
        <a:xfrm>
          <a:off x="0" y="0"/>
          <a:ext cx="0" cy="0"/>
          <a:chOff x="0" y="0"/>
          <a:chExt cx="0" cy="0"/>
        </a:xfrm>
      </p:grpSpPr>
      <p:sp>
        <p:nvSpPr>
          <p:cNvPr id="2" name="Freeform 2"/>
          <p:cNvSpPr/>
          <p:nvPr/>
        </p:nvSpPr>
        <p:spPr>
          <a:xfrm rot="-5400000">
            <a:off x="-7221231" y="1520888"/>
            <a:ext cx="13836366" cy="7245224"/>
          </a:xfrm>
          <a:custGeom>
            <a:avLst/>
            <a:gdLst/>
            <a:ahLst/>
            <a:cxnLst/>
            <a:rect l="l" t="t" r="r" b="b"/>
            <a:pathLst>
              <a:path w="13836366" h="7245224">
                <a:moveTo>
                  <a:pt x="0" y="0"/>
                </a:moveTo>
                <a:lnTo>
                  <a:pt x="13836366" y="0"/>
                </a:lnTo>
                <a:lnTo>
                  <a:pt x="13836366" y="7245224"/>
                </a:lnTo>
                <a:lnTo>
                  <a:pt x="0" y="724522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5400000">
            <a:off x="12384810" y="2397377"/>
            <a:ext cx="13836366" cy="7245224"/>
          </a:xfrm>
          <a:custGeom>
            <a:avLst/>
            <a:gdLst/>
            <a:ahLst/>
            <a:cxnLst/>
            <a:rect l="l" t="t" r="r" b="b"/>
            <a:pathLst>
              <a:path w="13836366" h="7245224">
                <a:moveTo>
                  <a:pt x="0" y="0"/>
                </a:moveTo>
                <a:lnTo>
                  <a:pt x="13836366" y="0"/>
                </a:lnTo>
                <a:lnTo>
                  <a:pt x="13836366" y="7245224"/>
                </a:lnTo>
                <a:lnTo>
                  <a:pt x="0" y="724522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3550243" y="4544509"/>
            <a:ext cx="848776" cy="623207"/>
          </a:xfrm>
          <a:custGeom>
            <a:avLst/>
            <a:gdLst/>
            <a:ahLst/>
            <a:cxnLst/>
            <a:rect l="l" t="t" r="r" b="b"/>
            <a:pathLst>
              <a:path w="848776" h="623207">
                <a:moveTo>
                  <a:pt x="0" y="0"/>
                </a:moveTo>
                <a:lnTo>
                  <a:pt x="848776" y="0"/>
                </a:lnTo>
                <a:lnTo>
                  <a:pt x="848776" y="623206"/>
                </a:lnTo>
                <a:lnTo>
                  <a:pt x="0" y="623206"/>
                </a:lnTo>
                <a:lnTo>
                  <a:pt x="0" y="0"/>
                </a:lnTo>
                <a:close/>
              </a:path>
            </a:pathLst>
          </a:custGeom>
          <a:blipFill>
            <a:blip r:embed="rId3"/>
            <a:stretch>
              <a:fillRect/>
            </a:stretch>
          </a:blipFill>
        </p:spPr>
      </p:sp>
      <p:sp>
        <p:nvSpPr>
          <p:cNvPr id="5" name="TextBox 5"/>
          <p:cNvSpPr txBox="1"/>
          <p:nvPr/>
        </p:nvSpPr>
        <p:spPr>
          <a:xfrm>
            <a:off x="4336389" y="1217916"/>
            <a:ext cx="9615222" cy="2314535"/>
          </a:xfrm>
          <a:prstGeom prst="rect">
            <a:avLst/>
          </a:prstGeom>
        </p:spPr>
        <p:txBody>
          <a:bodyPr lIns="0" tIns="0" rIns="0" bIns="0" rtlCol="0" anchor="t">
            <a:spAutoFit/>
          </a:bodyPr>
          <a:lstStyle/>
          <a:p>
            <a:pPr marL="0" lvl="0" indent="0" algn="ctr">
              <a:lnSpc>
                <a:spcPts val="8543"/>
              </a:lnSpc>
            </a:pPr>
            <a:r>
              <a:rPr lang="en-US" sz="7494" b="1" dirty="0">
                <a:solidFill>
                  <a:srgbClr val="FFFFFF"/>
                </a:solidFill>
                <a:latin typeface="Neo Tech Bold"/>
                <a:ea typeface="Neo Tech Bold"/>
                <a:cs typeface="Neo Tech Bold"/>
                <a:sym typeface="Neo Tech Bold"/>
              </a:rPr>
              <a:t>KEY DOCKER CONCEPTS</a:t>
            </a:r>
          </a:p>
        </p:txBody>
      </p:sp>
      <p:sp>
        <p:nvSpPr>
          <p:cNvPr id="6" name="TextBox 6"/>
          <p:cNvSpPr txBox="1"/>
          <p:nvPr/>
        </p:nvSpPr>
        <p:spPr>
          <a:xfrm>
            <a:off x="4813846" y="4296672"/>
            <a:ext cx="10580784" cy="1153568"/>
          </a:xfrm>
          <a:prstGeom prst="rect">
            <a:avLst/>
          </a:prstGeom>
        </p:spPr>
        <p:txBody>
          <a:bodyPr lIns="0" tIns="0" rIns="0" bIns="0" rtlCol="0" anchor="t">
            <a:spAutoFit/>
          </a:bodyPr>
          <a:lstStyle/>
          <a:p>
            <a:pPr marL="0" lvl="0" indent="0" algn="l">
              <a:lnSpc>
                <a:spcPts val="3005"/>
              </a:lnSpc>
            </a:pPr>
            <a:r>
              <a:rPr lang="en-US" sz="2636" dirty="0">
                <a:solidFill>
                  <a:srgbClr val="FFFFFF"/>
                </a:solidFill>
                <a:latin typeface="Koho"/>
                <a:ea typeface="Koho"/>
                <a:cs typeface="Koho"/>
                <a:sym typeface="Koho"/>
              </a:rPr>
              <a:t>Containers: Lightweight, standalone executable packages that run the Python-Flask application in an isolated environment on AWS EC2, ensuring the app behaves the same regardless of host configurations.</a:t>
            </a:r>
          </a:p>
        </p:txBody>
      </p:sp>
      <p:sp>
        <p:nvSpPr>
          <p:cNvPr id="7" name="TextBox 7"/>
          <p:cNvSpPr txBox="1"/>
          <p:nvPr/>
        </p:nvSpPr>
        <p:spPr>
          <a:xfrm>
            <a:off x="4813846" y="5837300"/>
            <a:ext cx="10580784" cy="1153568"/>
          </a:xfrm>
          <a:prstGeom prst="rect">
            <a:avLst/>
          </a:prstGeom>
        </p:spPr>
        <p:txBody>
          <a:bodyPr lIns="0" tIns="0" rIns="0" bIns="0" rtlCol="0" anchor="t">
            <a:spAutoFit/>
          </a:bodyPr>
          <a:lstStyle/>
          <a:p>
            <a:pPr marL="0" lvl="0" indent="0" algn="l">
              <a:lnSpc>
                <a:spcPts val="3005"/>
              </a:lnSpc>
            </a:pPr>
            <a:r>
              <a:rPr lang="en-US" sz="2636" dirty="0">
                <a:solidFill>
                  <a:srgbClr val="FFFFFF"/>
                </a:solidFill>
                <a:latin typeface="Koho"/>
                <a:ea typeface="Koho"/>
                <a:cs typeface="Koho"/>
                <a:sym typeface="Koho"/>
              </a:rPr>
              <a:t>Images: Read-only templates built using the python:3.9-slim base image. These contain all project dependencies like Flask and sqlite3, ensuring consistent deployment across environments..</a:t>
            </a:r>
          </a:p>
        </p:txBody>
      </p:sp>
      <p:sp>
        <p:nvSpPr>
          <p:cNvPr id="8" name="TextBox 8"/>
          <p:cNvSpPr txBox="1"/>
          <p:nvPr/>
        </p:nvSpPr>
        <p:spPr>
          <a:xfrm>
            <a:off x="4813846" y="7382635"/>
            <a:ext cx="10580784" cy="1538883"/>
          </a:xfrm>
          <a:prstGeom prst="rect">
            <a:avLst/>
          </a:prstGeom>
        </p:spPr>
        <p:txBody>
          <a:bodyPr lIns="0" tIns="0" rIns="0" bIns="0" rtlCol="0" anchor="t">
            <a:spAutoFit/>
          </a:bodyPr>
          <a:lstStyle/>
          <a:p>
            <a:pPr marL="0" lvl="0" indent="0" algn="l">
              <a:lnSpc>
                <a:spcPts val="3005"/>
              </a:lnSpc>
            </a:pPr>
            <a:r>
              <a:rPr lang="en-US" sz="2636" dirty="0" err="1">
                <a:solidFill>
                  <a:srgbClr val="FFFFFF"/>
                </a:solidFill>
                <a:latin typeface="Koho"/>
                <a:ea typeface="Koho"/>
                <a:cs typeface="Koho"/>
                <a:sym typeface="Koho"/>
              </a:rPr>
              <a:t>Dockerfile</a:t>
            </a:r>
            <a:r>
              <a:rPr lang="en-US" sz="2636" dirty="0">
                <a:solidFill>
                  <a:srgbClr val="FFFFFF"/>
                </a:solidFill>
                <a:latin typeface="Koho"/>
                <a:ea typeface="Koho"/>
                <a:cs typeface="Koho"/>
                <a:sym typeface="Koho"/>
              </a:rPr>
              <a:t>: A script containing specific instructions to build the Finance Tracker image. It sets the working directory to /app, installs dependencies via requirements.txt, and exposes port 5000 for web traffic..</a:t>
            </a:r>
          </a:p>
        </p:txBody>
      </p:sp>
      <p:sp>
        <p:nvSpPr>
          <p:cNvPr id="9" name="Freeform 9"/>
          <p:cNvSpPr/>
          <p:nvPr/>
        </p:nvSpPr>
        <p:spPr>
          <a:xfrm>
            <a:off x="3465931" y="5937953"/>
            <a:ext cx="1114688" cy="826965"/>
          </a:xfrm>
          <a:custGeom>
            <a:avLst/>
            <a:gdLst/>
            <a:ahLst/>
            <a:cxnLst/>
            <a:rect l="l" t="t" r="r" b="b"/>
            <a:pathLst>
              <a:path w="1114688" h="826965">
                <a:moveTo>
                  <a:pt x="0" y="0"/>
                </a:moveTo>
                <a:lnTo>
                  <a:pt x="1114688" y="0"/>
                </a:lnTo>
                <a:lnTo>
                  <a:pt x="1114688" y="826964"/>
                </a:lnTo>
                <a:lnTo>
                  <a:pt x="0" y="826964"/>
                </a:lnTo>
                <a:lnTo>
                  <a:pt x="0" y="0"/>
                </a:lnTo>
                <a:close/>
              </a:path>
            </a:pathLst>
          </a:custGeom>
          <a:blipFill>
            <a:blip r:embed="rId4"/>
            <a:stretch>
              <a:fillRect/>
            </a:stretch>
          </a:blipFill>
        </p:spPr>
      </p:sp>
      <p:sp>
        <p:nvSpPr>
          <p:cNvPr id="10" name="Freeform 10"/>
          <p:cNvSpPr/>
          <p:nvPr/>
        </p:nvSpPr>
        <p:spPr>
          <a:xfrm>
            <a:off x="3792331" y="7670638"/>
            <a:ext cx="549252" cy="697254"/>
          </a:xfrm>
          <a:custGeom>
            <a:avLst/>
            <a:gdLst/>
            <a:ahLst/>
            <a:cxnLst/>
            <a:rect l="l" t="t" r="r" b="b"/>
            <a:pathLst>
              <a:path w="549252" h="697254">
                <a:moveTo>
                  <a:pt x="0" y="0"/>
                </a:moveTo>
                <a:lnTo>
                  <a:pt x="549252" y="0"/>
                </a:lnTo>
                <a:lnTo>
                  <a:pt x="549252" y="697254"/>
                </a:lnTo>
                <a:lnTo>
                  <a:pt x="0" y="697254"/>
                </a:lnTo>
                <a:lnTo>
                  <a:pt x="0" y="0"/>
                </a:lnTo>
                <a:close/>
              </a:path>
            </a:pathLst>
          </a:custGeom>
          <a:blipFill>
            <a:blip r:embed="rId5"/>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953809" y="1685119"/>
            <a:ext cx="10894849" cy="1238210"/>
          </a:xfrm>
          <a:prstGeom prst="rect">
            <a:avLst/>
          </a:prstGeom>
        </p:spPr>
        <p:txBody>
          <a:bodyPr lIns="0" tIns="0" rIns="0" bIns="0" rtlCol="0" anchor="t">
            <a:spAutoFit/>
          </a:bodyPr>
          <a:lstStyle/>
          <a:p>
            <a:pPr marL="0" lvl="0" indent="0" algn="ctr">
              <a:lnSpc>
                <a:spcPts val="8543"/>
              </a:lnSpc>
            </a:pPr>
            <a:r>
              <a:rPr lang="en-US" sz="7494" b="1">
                <a:solidFill>
                  <a:srgbClr val="005FC2"/>
                </a:solidFill>
                <a:latin typeface="Neo Tech Bold"/>
                <a:ea typeface="Neo Tech Bold"/>
                <a:cs typeface="Neo Tech Bold"/>
                <a:sym typeface="Neo Tech Bold"/>
              </a:rPr>
              <a:t>DOCKER BENEFITS</a:t>
            </a:r>
          </a:p>
        </p:txBody>
      </p:sp>
      <p:sp>
        <p:nvSpPr>
          <p:cNvPr id="4" name="Freeform 4"/>
          <p:cNvSpPr/>
          <p:nvPr/>
        </p:nvSpPr>
        <p:spPr>
          <a:xfrm flipH="1">
            <a:off x="-3207360" y="-5086743"/>
            <a:ext cx="7161170" cy="10230243"/>
          </a:xfrm>
          <a:custGeom>
            <a:avLst/>
            <a:gdLst/>
            <a:ahLst/>
            <a:cxnLst/>
            <a:rect l="l" t="t" r="r" b="b"/>
            <a:pathLst>
              <a:path w="7161170" h="10230243">
                <a:moveTo>
                  <a:pt x="7161169" y="0"/>
                </a:moveTo>
                <a:lnTo>
                  <a:pt x="0" y="0"/>
                </a:lnTo>
                <a:lnTo>
                  <a:pt x="0" y="10230243"/>
                </a:lnTo>
                <a:lnTo>
                  <a:pt x="7161169" y="10230243"/>
                </a:lnTo>
                <a:lnTo>
                  <a:pt x="7161169"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rot="3885569" flipH="1">
            <a:off x="14952188" y="3486759"/>
            <a:ext cx="7161170" cy="10230243"/>
          </a:xfrm>
          <a:custGeom>
            <a:avLst/>
            <a:gdLst/>
            <a:ahLst/>
            <a:cxnLst/>
            <a:rect l="l" t="t" r="r" b="b"/>
            <a:pathLst>
              <a:path w="7161170" h="10230243">
                <a:moveTo>
                  <a:pt x="7161169" y="0"/>
                </a:moveTo>
                <a:lnTo>
                  <a:pt x="0" y="0"/>
                </a:lnTo>
                <a:lnTo>
                  <a:pt x="0" y="10230242"/>
                </a:lnTo>
                <a:lnTo>
                  <a:pt x="7161169" y="10230242"/>
                </a:lnTo>
                <a:lnTo>
                  <a:pt x="7161169"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dirty="0"/>
          </a:p>
        </p:txBody>
      </p:sp>
      <p:sp>
        <p:nvSpPr>
          <p:cNvPr id="6" name="TextBox 6"/>
          <p:cNvSpPr txBox="1"/>
          <p:nvPr/>
        </p:nvSpPr>
        <p:spPr>
          <a:xfrm>
            <a:off x="10179958" y="4242155"/>
            <a:ext cx="4656668" cy="2308324"/>
          </a:xfrm>
          <a:prstGeom prst="rect">
            <a:avLst/>
          </a:prstGeom>
        </p:spPr>
        <p:txBody>
          <a:bodyPr lIns="0" tIns="0" rIns="0" bIns="0" rtlCol="0" anchor="t">
            <a:spAutoFit/>
          </a:bodyPr>
          <a:lstStyle/>
          <a:p>
            <a:pPr marL="0" lvl="0" indent="0" algn="l">
              <a:lnSpc>
                <a:spcPts val="2972"/>
              </a:lnSpc>
            </a:pPr>
            <a:r>
              <a:rPr lang="en-US" sz="2607" dirty="0">
                <a:solidFill>
                  <a:srgbClr val="005FC2"/>
                </a:solidFill>
                <a:latin typeface="Koho"/>
                <a:ea typeface="Koho"/>
                <a:cs typeface="Koho"/>
                <a:sym typeface="Koho"/>
              </a:rPr>
              <a:t>Consistency:-</a:t>
            </a:r>
          </a:p>
          <a:p>
            <a:pPr marL="0" lvl="0" indent="0" algn="l">
              <a:lnSpc>
                <a:spcPts val="2972"/>
              </a:lnSpc>
            </a:pPr>
            <a:r>
              <a:rPr lang="en-US" sz="2607" dirty="0">
                <a:solidFill>
                  <a:srgbClr val="005FC2"/>
                </a:solidFill>
                <a:latin typeface="Koho"/>
                <a:ea typeface="Koho"/>
                <a:cs typeface="Koho"/>
                <a:sym typeface="Koho"/>
              </a:rPr>
              <a:t>Eliminates environment-related bugs by ensuring the development, testing, and production (AWS) environments stay perfectly synchronized.</a:t>
            </a:r>
          </a:p>
        </p:txBody>
      </p:sp>
      <p:sp>
        <p:nvSpPr>
          <p:cNvPr id="7" name="TextBox 7"/>
          <p:cNvSpPr txBox="1"/>
          <p:nvPr/>
        </p:nvSpPr>
        <p:spPr>
          <a:xfrm>
            <a:off x="2587496" y="3857434"/>
            <a:ext cx="4656668" cy="3077766"/>
          </a:xfrm>
          <a:prstGeom prst="rect">
            <a:avLst/>
          </a:prstGeom>
        </p:spPr>
        <p:txBody>
          <a:bodyPr lIns="0" tIns="0" rIns="0" bIns="0" rtlCol="0" anchor="t">
            <a:spAutoFit/>
          </a:bodyPr>
          <a:lstStyle/>
          <a:p>
            <a:pPr marL="0" lvl="0" indent="0" algn="l">
              <a:lnSpc>
                <a:spcPts val="2972"/>
              </a:lnSpc>
            </a:pPr>
            <a:r>
              <a:rPr lang="en-US" sz="2607" dirty="0">
                <a:solidFill>
                  <a:srgbClr val="005FC2"/>
                </a:solidFill>
                <a:latin typeface="Koho"/>
                <a:ea typeface="Koho"/>
                <a:cs typeface="Koho"/>
                <a:sym typeface="Koho"/>
              </a:rPr>
              <a:t>Portability</a:t>
            </a:r>
          </a:p>
          <a:p>
            <a:pPr marL="0" lvl="0" indent="0" algn="l">
              <a:lnSpc>
                <a:spcPts val="2972"/>
              </a:lnSpc>
            </a:pPr>
            <a:r>
              <a:rPr lang="en-US" sz="2607" dirty="0">
                <a:solidFill>
                  <a:srgbClr val="005FC2"/>
                </a:solidFill>
                <a:latin typeface="Koho"/>
                <a:ea typeface="Koho"/>
                <a:cs typeface="Koho"/>
                <a:sym typeface="Koho"/>
              </a:rPr>
              <a:t>Docker allows the Finance Tracker app to be packaged with all dependencies, enabling it to run seamlessly from a local machine to an AWS EC2 cloud instance without any code changes.</a:t>
            </a:r>
          </a:p>
        </p:txBody>
      </p:sp>
      <p:sp>
        <p:nvSpPr>
          <p:cNvPr id="8" name="Freeform 8"/>
          <p:cNvSpPr/>
          <p:nvPr/>
        </p:nvSpPr>
        <p:spPr>
          <a:xfrm>
            <a:off x="3953809" y="7660195"/>
            <a:ext cx="679170" cy="679170"/>
          </a:xfrm>
          <a:custGeom>
            <a:avLst/>
            <a:gdLst/>
            <a:ahLst/>
            <a:cxnLst/>
            <a:rect l="l" t="t" r="r" b="b"/>
            <a:pathLst>
              <a:path w="679170" h="679170">
                <a:moveTo>
                  <a:pt x="0" y="0"/>
                </a:moveTo>
                <a:lnTo>
                  <a:pt x="679170" y="0"/>
                </a:lnTo>
                <a:lnTo>
                  <a:pt x="679170" y="679170"/>
                </a:lnTo>
                <a:lnTo>
                  <a:pt x="0" y="67917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9" name="Freeform 9"/>
          <p:cNvSpPr/>
          <p:nvPr/>
        </p:nvSpPr>
        <p:spPr>
          <a:xfrm>
            <a:off x="12039600" y="7660195"/>
            <a:ext cx="679170" cy="679170"/>
          </a:xfrm>
          <a:custGeom>
            <a:avLst/>
            <a:gdLst/>
            <a:ahLst/>
            <a:cxnLst/>
            <a:rect l="l" t="t" r="r" b="b"/>
            <a:pathLst>
              <a:path w="679170" h="679170">
                <a:moveTo>
                  <a:pt x="0" y="0"/>
                </a:moveTo>
                <a:lnTo>
                  <a:pt x="679169" y="0"/>
                </a:lnTo>
                <a:lnTo>
                  <a:pt x="679169" y="679170"/>
                </a:lnTo>
                <a:lnTo>
                  <a:pt x="0" y="67917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11" name="Rectangle 1">
            <a:extLst>
              <a:ext uri="{FF2B5EF4-FFF2-40B4-BE49-F238E27FC236}">
                <a16:creationId xmlns:a16="http://schemas.microsoft.com/office/drawing/2014/main" id="{CE068F5F-891C-C78B-BA96-54F839975093}"/>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ea typeface="Google Sans Text"/>
              </a:rPr>
              <a:t>Eliminates environment-related bugs by ensuring the development, testing, and production (AWS) environments stay perfectly synchronized.</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 name="Rectangle 2">
            <a:extLst>
              <a:ext uri="{FF2B5EF4-FFF2-40B4-BE49-F238E27FC236}">
                <a16:creationId xmlns:a16="http://schemas.microsoft.com/office/drawing/2014/main" id="{DB095711-1DFA-BD16-AA29-0B2BFA9D8554}"/>
              </a:ext>
            </a:extLst>
          </p:cNvPr>
          <p:cNvSpPr>
            <a:spLocks noChangeArrowheads="1"/>
          </p:cNvSpPr>
          <p:nvPr/>
        </p:nvSpPr>
        <p:spPr bwMode="auto">
          <a:xfrm>
            <a:off x="152400" y="15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ea typeface="Google Sans Text"/>
              </a:rPr>
              <a:t>Eliminates environment-related bugs by ensuring the development, testing, and production (AWS) environments stay perfectly synchronized.</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5FC2"/>
        </a:solidFill>
        <a:effectLst/>
      </p:bgPr>
    </p:bg>
    <p:spTree>
      <p:nvGrpSpPr>
        <p:cNvPr id="1" name=""/>
        <p:cNvGrpSpPr/>
        <p:nvPr/>
      </p:nvGrpSpPr>
      <p:grpSpPr>
        <a:xfrm>
          <a:off x="0" y="0"/>
          <a:ext cx="0" cy="0"/>
          <a:chOff x="0" y="0"/>
          <a:chExt cx="0" cy="0"/>
        </a:xfrm>
      </p:grpSpPr>
      <p:sp>
        <p:nvSpPr>
          <p:cNvPr id="2" name="Freeform 2"/>
          <p:cNvSpPr/>
          <p:nvPr/>
        </p:nvSpPr>
        <p:spPr>
          <a:xfrm rot="-5400000">
            <a:off x="-6918183" y="5888904"/>
            <a:ext cx="13836366" cy="7245224"/>
          </a:xfrm>
          <a:custGeom>
            <a:avLst/>
            <a:gdLst/>
            <a:ahLst/>
            <a:cxnLst/>
            <a:rect l="l" t="t" r="r" b="b"/>
            <a:pathLst>
              <a:path w="13836366" h="7245224">
                <a:moveTo>
                  <a:pt x="0" y="0"/>
                </a:moveTo>
                <a:lnTo>
                  <a:pt x="13836366" y="0"/>
                </a:lnTo>
                <a:lnTo>
                  <a:pt x="13836366" y="7245224"/>
                </a:lnTo>
                <a:lnTo>
                  <a:pt x="0" y="724522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3454424" y="1459858"/>
            <a:ext cx="3804876" cy="3547520"/>
            <a:chOff x="0" y="0"/>
            <a:chExt cx="812800" cy="757823"/>
          </a:xfrm>
        </p:grpSpPr>
        <p:sp>
          <p:nvSpPr>
            <p:cNvPr id="4" name="Freeform 4"/>
            <p:cNvSpPr/>
            <p:nvPr/>
          </p:nvSpPr>
          <p:spPr>
            <a:xfrm>
              <a:off x="0" y="0"/>
              <a:ext cx="812800" cy="757823"/>
            </a:xfrm>
            <a:custGeom>
              <a:avLst/>
              <a:gdLst/>
              <a:ahLst/>
              <a:cxnLst/>
              <a:rect l="l" t="t" r="r" b="b"/>
              <a:pathLst>
                <a:path w="812800" h="757823">
                  <a:moveTo>
                    <a:pt x="46799" y="0"/>
                  </a:moveTo>
                  <a:lnTo>
                    <a:pt x="766001" y="0"/>
                  </a:lnTo>
                  <a:cubicBezTo>
                    <a:pt x="791847" y="0"/>
                    <a:pt x="812800" y="20953"/>
                    <a:pt x="812800" y="46799"/>
                  </a:cubicBezTo>
                  <a:lnTo>
                    <a:pt x="812800" y="711024"/>
                  </a:lnTo>
                  <a:cubicBezTo>
                    <a:pt x="812800" y="736871"/>
                    <a:pt x="791847" y="757823"/>
                    <a:pt x="766001" y="757823"/>
                  </a:cubicBezTo>
                  <a:lnTo>
                    <a:pt x="46799" y="757823"/>
                  </a:lnTo>
                  <a:cubicBezTo>
                    <a:pt x="20953" y="757823"/>
                    <a:pt x="0" y="736871"/>
                    <a:pt x="0" y="711024"/>
                  </a:cubicBezTo>
                  <a:lnTo>
                    <a:pt x="0" y="46799"/>
                  </a:lnTo>
                  <a:cubicBezTo>
                    <a:pt x="0" y="20953"/>
                    <a:pt x="20953" y="0"/>
                    <a:pt x="46799" y="0"/>
                  </a:cubicBezTo>
                  <a:close/>
                </a:path>
              </a:pathLst>
            </a:custGeom>
            <a:blipFill>
              <a:blip r:embed="rId3"/>
              <a:stretch>
                <a:fillRect t="-3627" b="-3627"/>
              </a:stretch>
            </a:blipFill>
          </p:spPr>
        </p:sp>
      </p:grpSp>
      <p:grpSp>
        <p:nvGrpSpPr>
          <p:cNvPr id="5" name="Group 5"/>
          <p:cNvGrpSpPr/>
          <p:nvPr/>
        </p:nvGrpSpPr>
        <p:grpSpPr>
          <a:xfrm>
            <a:off x="13454424" y="5279623"/>
            <a:ext cx="3804876" cy="3547520"/>
            <a:chOff x="0" y="0"/>
            <a:chExt cx="812800" cy="757823"/>
          </a:xfrm>
        </p:grpSpPr>
        <p:sp>
          <p:nvSpPr>
            <p:cNvPr id="6" name="Freeform 6"/>
            <p:cNvSpPr/>
            <p:nvPr/>
          </p:nvSpPr>
          <p:spPr>
            <a:xfrm>
              <a:off x="0" y="0"/>
              <a:ext cx="812800" cy="757823"/>
            </a:xfrm>
            <a:custGeom>
              <a:avLst/>
              <a:gdLst/>
              <a:ahLst/>
              <a:cxnLst/>
              <a:rect l="l" t="t" r="r" b="b"/>
              <a:pathLst>
                <a:path w="812800" h="757823">
                  <a:moveTo>
                    <a:pt x="46799" y="0"/>
                  </a:moveTo>
                  <a:lnTo>
                    <a:pt x="766001" y="0"/>
                  </a:lnTo>
                  <a:cubicBezTo>
                    <a:pt x="791847" y="0"/>
                    <a:pt x="812800" y="20953"/>
                    <a:pt x="812800" y="46799"/>
                  </a:cubicBezTo>
                  <a:lnTo>
                    <a:pt x="812800" y="711024"/>
                  </a:lnTo>
                  <a:cubicBezTo>
                    <a:pt x="812800" y="736871"/>
                    <a:pt x="791847" y="757823"/>
                    <a:pt x="766001" y="757823"/>
                  </a:cubicBezTo>
                  <a:lnTo>
                    <a:pt x="46799" y="757823"/>
                  </a:lnTo>
                  <a:cubicBezTo>
                    <a:pt x="20953" y="757823"/>
                    <a:pt x="0" y="736871"/>
                    <a:pt x="0" y="711024"/>
                  </a:cubicBezTo>
                  <a:lnTo>
                    <a:pt x="0" y="46799"/>
                  </a:lnTo>
                  <a:cubicBezTo>
                    <a:pt x="0" y="20953"/>
                    <a:pt x="20953" y="0"/>
                    <a:pt x="46799" y="0"/>
                  </a:cubicBezTo>
                  <a:close/>
                </a:path>
              </a:pathLst>
            </a:custGeom>
            <a:blipFill>
              <a:blip r:embed="rId4"/>
              <a:stretch>
                <a:fillRect t="-3627" b="-3627"/>
              </a:stretch>
            </a:blipFill>
          </p:spPr>
        </p:sp>
      </p:grpSp>
      <p:sp>
        <p:nvSpPr>
          <p:cNvPr id="7" name="Freeform 7"/>
          <p:cNvSpPr/>
          <p:nvPr/>
        </p:nvSpPr>
        <p:spPr>
          <a:xfrm>
            <a:off x="1829272" y="3519317"/>
            <a:ext cx="679170" cy="679170"/>
          </a:xfrm>
          <a:custGeom>
            <a:avLst/>
            <a:gdLst/>
            <a:ahLst/>
            <a:cxnLst/>
            <a:rect l="l" t="t" r="r" b="b"/>
            <a:pathLst>
              <a:path w="679170" h="679170">
                <a:moveTo>
                  <a:pt x="0" y="0"/>
                </a:moveTo>
                <a:lnTo>
                  <a:pt x="679170" y="0"/>
                </a:lnTo>
                <a:lnTo>
                  <a:pt x="679170" y="679170"/>
                </a:lnTo>
                <a:lnTo>
                  <a:pt x="0" y="67917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a:off x="1997007" y="4997730"/>
            <a:ext cx="679170" cy="679170"/>
          </a:xfrm>
          <a:custGeom>
            <a:avLst/>
            <a:gdLst/>
            <a:ahLst/>
            <a:cxnLst/>
            <a:rect l="l" t="t" r="r" b="b"/>
            <a:pathLst>
              <a:path w="679170" h="679170">
                <a:moveTo>
                  <a:pt x="0" y="0"/>
                </a:moveTo>
                <a:lnTo>
                  <a:pt x="679170" y="0"/>
                </a:lnTo>
                <a:lnTo>
                  <a:pt x="679170" y="679169"/>
                </a:lnTo>
                <a:lnTo>
                  <a:pt x="0" y="679169"/>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Freeform 9"/>
          <p:cNvSpPr/>
          <p:nvPr/>
        </p:nvSpPr>
        <p:spPr>
          <a:xfrm>
            <a:off x="1829272" y="6896100"/>
            <a:ext cx="679170" cy="679170"/>
          </a:xfrm>
          <a:custGeom>
            <a:avLst/>
            <a:gdLst/>
            <a:ahLst/>
            <a:cxnLst/>
            <a:rect l="l" t="t" r="r" b="b"/>
            <a:pathLst>
              <a:path w="679170" h="679170">
                <a:moveTo>
                  <a:pt x="0" y="0"/>
                </a:moveTo>
                <a:lnTo>
                  <a:pt x="679170" y="0"/>
                </a:lnTo>
                <a:lnTo>
                  <a:pt x="679170" y="679169"/>
                </a:lnTo>
                <a:lnTo>
                  <a:pt x="0" y="679169"/>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0" name="TextBox 10"/>
          <p:cNvSpPr txBox="1"/>
          <p:nvPr/>
        </p:nvSpPr>
        <p:spPr>
          <a:xfrm>
            <a:off x="1829272" y="1355083"/>
            <a:ext cx="10894849" cy="1238210"/>
          </a:xfrm>
          <a:prstGeom prst="rect">
            <a:avLst/>
          </a:prstGeom>
        </p:spPr>
        <p:txBody>
          <a:bodyPr lIns="0" tIns="0" rIns="0" bIns="0" rtlCol="0" anchor="t">
            <a:spAutoFit/>
          </a:bodyPr>
          <a:lstStyle/>
          <a:p>
            <a:pPr marL="0" lvl="0" indent="0" algn="l">
              <a:lnSpc>
                <a:spcPts val="8543"/>
              </a:lnSpc>
            </a:pPr>
            <a:r>
              <a:rPr lang="en-US" sz="7494" b="1">
                <a:solidFill>
                  <a:srgbClr val="FFFFFF"/>
                </a:solidFill>
                <a:latin typeface="Neo Tech Bold"/>
                <a:ea typeface="Neo Tech Bold"/>
                <a:cs typeface="Neo Tech Bold"/>
                <a:sym typeface="Neo Tech Bold"/>
              </a:rPr>
              <a:t>DOCKER ARCHITECTURE</a:t>
            </a:r>
          </a:p>
        </p:txBody>
      </p:sp>
      <p:sp>
        <p:nvSpPr>
          <p:cNvPr id="11" name="TextBox 11"/>
          <p:cNvSpPr txBox="1"/>
          <p:nvPr/>
        </p:nvSpPr>
        <p:spPr>
          <a:xfrm>
            <a:off x="2895628" y="3076709"/>
            <a:ext cx="10148400" cy="1231106"/>
          </a:xfrm>
          <a:prstGeom prst="rect">
            <a:avLst/>
          </a:prstGeom>
        </p:spPr>
        <p:txBody>
          <a:bodyPr lIns="0" tIns="0" rIns="0" bIns="0" rtlCol="0" anchor="t">
            <a:spAutoFit/>
          </a:bodyPr>
          <a:lstStyle/>
          <a:p>
            <a:pPr marL="0" lvl="0" indent="0" algn="l">
              <a:lnSpc>
                <a:spcPts val="3189"/>
              </a:lnSpc>
            </a:pPr>
            <a:r>
              <a:rPr lang="en-US" sz="2798" dirty="0">
                <a:solidFill>
                  <a:srgbClr val="FFFFFF"/>
                </a:solidFill>
                <a:latin typeface="Koho"/>
                <a:ea typeface="Koho"/>
                <a:cs typeface="Koho"/>
                <a:sym typeface="Koho"/>
              </a:rPr>
              <a:t>Integrated Web Container: A monolithic container running the Python Flask backend along with the HTML/CSS/JS frontend, serving the Finance Tracker dashboard globally via port 8080..</a:t>
            </a:r>
          </a:p>
        </p:txBody>
      </p:sp>
      <p:sp>
        <p:nvSpPr>
          <p:cNvPr id="12" name="TextBox 12"/>
          <p:cNvSpPr txBox="1"/>
          <p:nvPr/>
        </p:nvSpPr>
        <p:spPr>
          <a:xfrm>
            <a:off x="2886126" y="4674394"/>
            <a:ext cx="10148400" cy="1231106"/>
          </a:xfrm>
          <a:prstGeom prst="rect">
            <a:avLst/>
          </a:prstGeom>
        </p:spPr>
        <p:txBody>
          <a:bodyPr lIns="0" tIns="0" rIns="0" bIns="0" rtlCol="0" anchor="t">
            <a:spAutoFit/>
          </a:bodyPr>
          <a:lstStyle/>
          <a:p>
            <a:pPr marL="0" lvl="0" indent="0" algn="l">
              <a:lnSpc>
                <a:spcPts val="3189"/>
              </a:lnSpc>
            </a:pPr>
            <a:r>
              <a:rPr lang="en-US" sz="2798" dirty="0">
                <a:solidFill>
                  <a:srgbClr val="FFFFFF"/>
                </a:solidFill>
                <a:latin typeface="Koho"/>
                <a:ea typeface="Koho"/>
                <a:cs typeface="Koho"/>
                <a:sym typeface="Koho"/>
              </a:rPr>
              <a:t>Flask Application Service: A RESTful backend service built with Python Flask that handles core business logic, including transaction processing and real-time dashboard updates.</a:t>
            </a:r>
          </a:p>
        </p:txBody>
      </p:sp>
      <p:sp>
        <p:nvSpPr>
          <p:cNvPr id="13" name="TextBox 13"/>
          <p:cNvSpPr txBox="1"/>
          <p:nvPr/>
        </p:nvSpPr>
        <p:spPr>
          <a:xfrm>
            <a:off x="2886126" y="6321425"/>
            <a:ext cx="10148400" cy="1641475"/>
          </a:xfrm>
          <a:prstGeom prst="rect">
            <a:avLst/>
          </a:prstGeom>
        </p:spPr>
        <p:txBody>
          <a:bodyPr lIns="0" tIns="0" rIns="0" bIns="0" rtlCol="0" anchor="t">
            <a:spAutoFit/>
          </a:bodyPr>
          <a:lstStyle/>
          <a:p>
            <a:pPr marL="0" lvl="0" indent="0" algn="l">
              <a:lnSpc>
                <a:spcPts val="3189"/>
              </a:lnSpc>
            </a:pPr>
            <a:r>
              <a:rPr lang="en-US" sz="2798" dirty="0">
                <a:solidFill>
                  <a:srgbClr val="FFFFFF"/>
                </a:solidFill>
                <a:latin typeface="Koho"/>
                <a:ea typeface="Koho"/>
                <a:cs typeface="Koho"/>
                <a:sym typeface="Koho"/>
              </a:rPr>
              <a:t>Persistent SQLite Database: A file-based SQLite3 database instance managing financial records. It utilizes Docker Volume Mounting to ensure transaction data persists on the AWS EC2 host even after container restarts.</a:t>
            </a:r>
          </a:p>
        </p:txBody>
      </p:sp>
      <p:sp>
        <p:nvSpPr>
          <p:cNvPr id="14" name="Freeform 14"/>
          <p:cNvSpPr/>
          <p:nvPr/>
        </p:nvSpPr>
        <p:spPr>
          <a:xfrm>
            <a:off x="6125845" y="-4806690"/>
            <a:ext cx="13836366" cy="7245224"/>
          </a:xfrm>
          <a:custGeom>
            <a:avLst/>
            <a:gdLst/>
            <a:ahLst/>
            <a:cxnLst/>
            <a:rect l="l" t="t" r="r" b="b"/>
            <a:pathLst>
              <a:path w="13836366" h="7245224">
                <a:moveTo>
                  <a:pt x="0" y="0"/>
                </a:moveTo>
                <a:lnTo>
                  <a:pt x="13836366" y="0"/>
                </a:lnTo>
                <a:lnTo>
                  <a:pt x="13836366" y="7245224"/>
                </a:lnTo>
                <a:lnTo>
                  <a:pt x="0" y="724522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5" name="TextBox 13">
            <a:extLst>
              <a:ext uri="{FF2B5EF4-FFF2-40B4-BE49-F238E27FC236}">
                <a16:creationId xmlns:a16="http://schemas.microsoft.com/office/drawing/2014/main" id="{E84AA9C0-067E-5B00-5E1B-12190D7B8F55}"/>
              </a:ext>
            </a:extLst>
          </p:cNvPr>
          <p:cNvSpPr txBox="1"/>
          <p:nvPr/>
        </p:nvSpPr>
        <p:spPr>
          <a:xfrm>
            <a:off x="2899639" y="8150225"/>
            <a:ext cx="9843600" cy="1641475"/>
          </a:xfrm>
          <a:prstGeom prst="rect">
            <a:avLst/>
          </a:prstGeom>
        </p:spPr>
        <p:txBody>
          <a:bodyPr wrap="square" lIns="0" tIns="0" rIns="0" bIns="0" rtlCol="0" anchor="t">
            <a:spAutoFit/>
          </a:bodyPr>
          <a:lstStyle/>
          <a:p>
            <a:pPr marL="0" lvl="0" indent="0" algn="l">
              <a:lnSpc>
                <a:spcPts val="3189"/>
              </a:lnSpc>
            </a:pPr>
            <a:r>
              <a:rPr lang="en-US" sz="2798" dirty="0">
                <a:solidFill>
                  <a:srgbClr val="FFFFFF"/>
                </a:solidFill>
                <a:latin typeface="Koho"/>
                <a:ea typeface="Koho"/>
                <a:cs typeface="Koho"/>
                <a:sym typeface="Koho"/>
              </a:rPr>
              <a:t>Cloud Infrastructure: The entire containerized architecture is deployed on an AWS EC2 (Ubuntu) instance, leveraging Docker for consistent environment synchronization between development and production.</a:t>
            </a:r>
          </a:p>
        </p:txBody>
      </p:sp>
      <p:sp>
        <p:nvSpPr>
          <p:cNvPr id="16" name="Rectangle 1">
            <a:extLst>
              <a:ext uri="{FF2B5EF4-FFF2-40B4-BE49-F238E27FC236}">
                <a16:creationId xmlns:a16="http://schemas.microsoft.com/office/drawing/2014/main" id="{80F536AE-EAB2-9C1F-A1BA-2C4C4B02E794}"/>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Cloud Infrastructure:</a:t>
            </a:r>
            <a:r>
              <a:rPr kumimoji="0" lang="en-US" altLang="en-US" sz="1800" b="0" i="0" u="none" strike="noStrike" cap="none" normalizeH="0" baseline="0">
                <a:ln>
                  <a:noFill/>
                </a:ln>
                <a:solidFill>
                  <a:schemeClr val="tx1"/>
                </a:solidFill>
                <a:effectLst/>
                <a:latin typeface="Arial" panose="020B0604020202020204" pitchFamily="34" charset="0"/>
              </a:rPr>
              <a:t> The entire containerized architecture is deployed on an </a:t>
            </a:r>
            <a:r>
              <a:rPr kumimoji="0" lang="en-US" altLang="en-US" sz="1800" b="1" i="0" u="none" strike="noStrike" cap="none" normalizeH="0" baseline="0">
                <a:ln>
                  <a:noFill/>
                </a:ln>
                <a:solidFill>
                  <a:schemeClr val="tx1"/>
                </a:solidFill>
                <a:effectLst/>
                <a:latin typeface="Arial" panose="020B0604020202020204" pitchFamily="34" charset="0"/>
              </a:rPr>
              <a:t>AWS EC2 (Ubuntu)</a:t>
            </a:r>
            <a:r>
              <a:rPr kumimoji="0" lang="en-US" altLang="en-US" sz="1800" b="0" i="0" u="none" strike="noStrike" cap="none" normalizeH="0" baseline="0">
                <a:ln>
                  <a:noFill/>
                </a:ln>
                <a:solidFill>
                  <a:schemeClr val="tx1"/>
                </a:solidFill>
                <a:effectLst/>
                <a:latin typeface="Arial" panose="020B0604020202020204" pitchFamily="34" charset="0"/>
              </a:rPr>
              <a:t> instance, leveraging Docker for consistent environment synchronization between development and production.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 name="Freeform 9">
            <a:extLst>
              <a:ext uri="{FF2B5EF4-FFF2-40B4-BE49-F238E27FC236}">
                <a16:creationId xmlns:a16="http://schemas.microsoft.com/office/drawing/2014/main" id="{7EA69B93-55A2-3816-EBEC-D820741319DD}"/>
              </a:ext>
            </a:extLst>
          </p:cNvPr>
          <p:cNvSpPr/>
          <p:nvPr/>
        </p:nvSpPr>
        <p:spPr>
          <a:xfrm>
            <a:off x="2010520" y="8374513"/>
            <a:ext cx="679170" cy="679170"/>
          </a:xfrm>
          <a:custGeom>
            <a:avLst/>
            <a:gdLst/>
            <a:ahLst/>
            <a:cxnLst/>
            <a:rect l="l" t="t" r="r" b="b"/>
            <a:pathLst>
              <a:path w="679170" h="679170">
                <a:moveTo>
                  <a:pt x="0" y="0"/>
                </a:moveTo>
                <a:lnTo>
                  <a:pt x="679170" y="0"/>
                </a:lnTo>
                <a:lnTo>
                  <a:pt x="679170" y="679169"/>
                </a:lnTo>
                <a:lnTo>
                  <a:pt x="0" y="679169"/>
                </a:lnTo>
                <a:lnTo>
                  <a:pt x="0" y="0"/>
                </a:lnTo>
                <a:close/>
              </a:path>
            </a:pathLst>
          </a:custGeom>
          <a:blipFill>
            <a:blip>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620781" y="4028792"/>
            <a:ext cx="8975409" cy="1641475"/>
          </a:xfrm>
          <a:prstGeom prst="rect">
            <a:avLst/>
          </a:prstGeom>
        </p:spPr>
        <p:txBody>
          <a:bodyPr lIns="0" tIns="0" rIns="0" bIns="0" rtlCol="0" anchor="t">
            <a:spAutoFit/>
          </a:bodyPr>
          <a:lstStyle/>
          <a:p>
            <a:pPr marL="0" lvl="0" indent="0" algn="l">
              <a:lnSpc>
                <a:spcPts val="3189"/>
              </a:lnSpc>
            </a:pPr>
            <a:r>
              <a:rPr lang="en-US" sz="2798" dirty="0">
                <a:solidFill>
                  <a:srgbClr val="005FC2"/>
                </a:solidFill>
                <a:latin typeface="Koho"/>
                <a:ea typeface="Koho"/>
                <a:cs typeface="Koho"/>
                <a:sym typeface="Koho"/>
              </a:rPr>
              <a:t>Build Image: Create a </a:t>
            </a:r>
            <a:r>
              <a:rPr lang="en-US" sz="2798" dirty="0" err="1">
                <a:solidFill>
                  <a:srgbClr val="005FC2"/>
                </a:solidFill>
                <a:latin typeface="Koho"/>
                <a:ea typeface="Koho"/>
                <a:cs typeface="Koho"/>
                <a:sym typeface="Koho"/>
              </a:rPr>
              <a:t>Dockerfile</a:t>
            </a:r>
            <a:r>
              <a:rPr lang="en-US" sz="2798" dirty="0">
                <a:solidFill>
                  <a:srgbClr val="005FC2"/>
                </a:solidFill>
                <a:latin typeface="Koho"/>
                <a:ea typeface="Koho"/>
                <a:cs typeface="Koho"/>
                <a:sym typeface="Koho"/>
              </a:rPr>
              <a:t> in the project root to define the base image and install dependencies. Run docker build -t finance-tracker-app . to generate the container image</a:t>
            </a:r>
          </a:p>
        </p:txBody>
      </p:sp>
      <p:sp>
        <p:nvSpPr>
          <p:cNvPr id="3" name="Freeform 3"/>
          <p:cNvSpPr/>
          <p:nvPr/>
        </p:nvSpPr>
        <p:spPr>
          <a:xfrm rot="-10149532" flipH="1">
            <a:off x="-3580585" y="4143179"/>
            <a:ext cx="7161170" cy="10230243"/>
          </a:xfrm>
          <a:custGeom>
            <a:avLst/>
            <a:gdLst/>
            <a:ahLst/>
            <a:cxnLst/>
            <a:rect l="l" t="t" r="r" b="b"/>
            <a:pathLst>
              <a:path w="7161170" h="10230243">
                <a:moveTo>
                  <a:pt x="7161170" y="0"/>
                </a:moveTo>
                <a:lnTo>
                  <a:pt x="0" y="0"/>
                </a:lnTo>
                <a:lnTo>
                  <a:pt x="0" y="10230242"/>
                </a:lnTo>
                <a:lnTo>
                  <a:pt x="7161170" y="10230242"/>
                </a:lnTo>
                <a:lnTo>
                  <a:pt x="716117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rot="129211" flipH="1">
            <a:off x="14707415" y="-4280324"/>
            <a:ext cx="7161170" cy="10230243"/>
          </a:xfrm>
          <a:custGeom>
            <a:avLst/>
            <a:gdLst/>
            <a:ahLst/>
            <a:cxnLst/>
            <a:rect l="l" t="t" r="r" b="b"/>
            <a:pathLst>
              <a:path w="7161170" h="10230243">
                <a:moveTo>
                  <a:pt x="7161170" y="0"/>
                </a:moveTo>
                <a:lnTo>
                  <a:pt x="0" y="0"/>
                </a:lnTo>
                <a:lnTo>
                  <a:pt x="0" y="10230242"/>
                </a:lnTo>
                <a:lnTo>
                  <a:pt x="7161170" y="10230242"/>
                </a:lnTo>
                <a:lnTo>
                  <a:pt x="716117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1569424" y="3536916"/>
            <a:ext cx="5818683" cy="5087878"/>
          </a:xfrm>
          <a:custGeom>
            <a:avLst/>
            <a:gdLst/>
            <a:ahLst/>
            <a:cxnLst/>
            <a:rect l="l" t="t" r="r" b="b"/>
            <a:pathLst>
              <a:path w="5818683" h="5087878">
                <a:moveTo>
                  <a:pt x="0" y="0"/>
                </a:moveTo>
                <a:lnTo>
                  <a:pt x="5818683" y="0"/>
                </a:lnTo>
                <a:lnTo>
                  <a:pt x="5818683" y="5087878"/>
                </a:lnTo>
                <a:lnTo>
                  <a:pt x="0" y="5087878"/>
                </a:lnTo>
                <a:lnTo>
                  <a:pt x="0" y="0"/>
                </a:lnTo>
                <a:close/>
              </a:path>
            </a:pathLst>
          </a:custGeom>
          <a:blipFill>
            <a:blip r:embed="rId3"/>
            <a:stretch>
              <a:fillRect/>
            </a:stretch>
          </a:blipFill>
        </p:spPr>
      </p:sp>
      <p:sp>
        <p:nvSpPr>
          <p:cNvPr id="6" name="TextBox 6"/>
          <p:cNvSpPr txBox="1"/>
          <p:nvPr/>
        </p:nvSpPr>
        <p:spPr>
          <a:xfrm>
            <a:off x="3622883" y="1246437"/>
            <a:ext cx="10894849" cy="2314535"/>
          </a:xfrm>
          <a:prstGeom prst="rect">
            <a:avLst/>
          </a:prstGeom>
        </p:spPr>
        <p:txBody>
          <a:bodyPr lIns="0" tIns="0" rIns="0" bIns="0" rtlCol="0" anchor="t">
            <a:spAutoFit/>
          </a:bodyPr>
          <a:lstStyle/>
          <a:p>
            <a:pPr marL="0" lvl="0" indent="0" algn="ctr">
              <a:lnSpc>
                <a:spcPts val="8543"/>
              </a:lnSpc>
            </a:pPr>
            <a:r>
              <a:rPr lang="en-US" sz="7494" b="1">
                <a:solidFill>
                  <a:srgbClr val="005FC2"/>
                </a:solidFill>
                <a:latin typeface="Neo Tech Bold"/>
                <a:ea typeface="Neo Tech Bold"/>
                <a:cs typeface="Neo Tech Bold"/>
                <a:sym typeface="Neo Tech Bold"/>
              </a:rPr>
              <a:t>DEPLOYMENT WORKFLOW</a:t>
            </a:r>
          </a:p>
        </p:txBody>
      </p:sp>
      <p:sp>
        <p:nvSpPr>
          <p:cNvPr id="7" name="TextBox 7"/>
          <p:cNvSpPr txBox="1"/>
          <p:nvPr/>
        </p:nvSpPr>
        <p:spPr>
          <a:xfrm>
            <a:off x="7620780" y="5905500"/>
            <a:ext cx="8975409" cy="2462213"/>
          </a:xfrm>
          <a:prstGeom prst="rect">
            <a:avLst/>
          </a:prstGeom>
        </p:spPr>
        <p:txBody>
          <a:bodyPr lIns="0" tIns="0" rIns="0" bIns="0" rtlCol="0" anchor="t">
            <a:spAutoFit/>
          </a:bodyPr>
          <a:lstStyle/>
          <a:p>
            <a:pPr marL="0" lvl="0" indent="0" algn="l">
              <a:lnSpc>
                <a:spcPts val="3189"/>
              </a:lnSpc>
            </a:pPr>
            <a:r>
              <a:rPr lang="en-US" sz="2798" dirty="0">
                <a:solidFill>
                  <a:srgbClr val="005FC2"/>
                </a:solidFill>
                <a:latin typeface="Koho"/>
                <a:ea typeface="Koho"/>
                <a:cs typeface="Koho"/>
                <a:sym typeface="Koho"/>
              </a:rPr>
              <a:t>Run Container: Execute docker run -d -p 8080:5000 --name my-finance-container -v "$(</a:t>
            </a:r>
            <a:r>
              <a:rPr lang="en-US" sz="2798" dirty="0" err="1">
                <a:solidFill>
                  <a:srgbClr val="005FC2"/>
                </a:solidFill>
                <a:latin typeface="Koho"/>
                <a:ea typeface="Koho"/>
                <a:cs typeface="Koho"/>
                <a:sym typeface="Koho"/>
              </a:rPr>
              <a:t>pwd</a:t>
            </a:r>
            <a:r>
              <a:rPr lang="en-US" sz="2798" dirty="0">
                <a:solidFill>
                  <a:srgbClr val="005FC2"/>
                </a:solidFill>
                <a:latin typeface="Koho"/>
                <a:ea typeface="Koho"/>
                <a:cs typeface="Koho"/>
                <a:sym typeface="Koho"/>
              </a:rPr>
              <a:t>):/app" finance-tracker-app to launch the application</a:t>
            </a:r>
          </a:p>
          <a:p>
            <a:pPr marL="0" lvl="0" indent="0" algn="l">
              <a:lnSpc>
                <a:spcPts val="3189"/>
              </a:lnSpc>
            </a:pPr>
            <a:endParaRPr lang="en-US" sz="2798" dirty="0">
              <a:solidFill>
                <a:srgbClr val="005FC2"/>
              </a:solidFill>
              <a:latin typeface="Koho"/>
              <a:ea typeface="Koho"/>
              <a:cs typeface="Koho"/>
              <a:sym typeface="Koho"/>
            </a:endParaRPr>
          </a:p>
          <a:p>
            <a:pPr marL="0" lvl="0" indent="0" algn="l">
              <a:lnSpc>
                <a:spcPts val="3189"/>
              </a:lnSpc>
            </a:pPr>
            <a:r>
              <a:rPr lang="en-US" sz="2798" dirty="0">
                <a:solidFill>
                  <a:srgbClr val="005FC2"/>
                </a:solidFill>
                <a:latin typeface="Koho"/>
                <a:ea typeface="Koho"/>
                <a:cs typeface="Koho"/>
                <a:sym typeface="Koho"/>
              </a:rPr>
              <a:t>External Access: Map host port 8080 to container port 5000 to allow global access via the AWS EC2 Public IP.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56048" y="3785953"/>
            <a:ext cx="10894849" cy="4698362"/>
            <a:chOff x="0" y="0"/>
            <a:chExt cx="971835" cy="419100"/>
          </a:xfrm>
        </p:grpSpPr>
        <p:sp>
          <p:nvSpPr>
            <p:cNvPr id="3" name="Freeform 3"/>
            <p:cNvSpPr/>
            <p:nvPr/>
          </p:nvSpPr>
          <p:spPr>
            <a:xfrm>
              <a:off x="0" y="0"/>
              <a:ext cx="971835" cy="419100"/>
            </a:xfrm>
            <a:custGeom>
              <a:avLst/>
              <a:gdLst/>
              <a:ahLst/>
              <a:cxnLst/>
              <a:rect l="l" t="t" r="r" b="b"/>
              <a:pathLst>
                <a:path w="971835" h="419100">
                  <a:moveTo>
                    <a:pt x="0" y="0"/>
                  </a:moveTo>
                  <a:lnTo>
                    <a:pt x="971835" y="0"/>
                  </a:lnTo>
                  <a:lnTo>
                    <a:pt x="971835" y="419100"/>
                  </a:lnTo>
                  <a:lnTo>
                    <a:pt x="0" y="419100"/>
                  </a:lnTo>
                  <a:close/>
                </a:path>
              </a:pathLst>
            </a:custGeom>
            <a:solidFill>
              <a:srgbClr val="005FC2"/>
            </a:solidFill>
          </p:spPr>
        </p:sp>
        <p:sp>
          <p:nvSpPr>
            <p:cNvPr id="4" name="TextBox 4"/>
            <p:cNvSpPr txBox="1"/>
            <p:nvPr/>
          </p:nvSpPr>
          <p:spPr>
            <a:xfrm>
              <a:off x="0" y="-38100"/>
              <a:ext cx="971835" cy="4572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TextBox 5"/>
          <p:cNvSpPr txBox="1"/>
          <p:nvPr/>
        </p:nvSpPr>
        <p:spPr>
          <a:xfrm>
            <a:off x="1855931" y="4343292"/>
            <a:ext cx="10095082" cy="3590727"/>
          </a:xfrm>
          <a:prstGeom prst="rect">
            <a:avLst/>
          </a:prstGeom>
        </p:spPr>
        <p:txBody>
          <a:bodyPr lIns="0" tIns="0" rIns="0" bIns="0" rtlCol="0" anchor="t">
            <a:spAutoFit/>
          </a:bodyPr>
          <a:lstStyle/>
          <a:p>
            <a:pPr marL="0" lvl="0" indent="0" algn="l">
              <a:lnSpc>
                <a:spcPts val="2772"/>
              </a:lnSpc>
            </a:pPr>
            <a:r>
              <a:rPr lang="en-US" sz="2431" dirty="0">
                <a:solidFill>
                  <a:srgbClr val="FFFFFF"/>
                </a:solidFill>
                <a:latin typeface="Koho"/>
                <a:ea typeface="Koho"/>
                <a:cs typeface="Koho"/>
                <a:sym typeface="Koho"/>
              </a:rPr>
              <a:t>For the Finance Tracker application, implementing Docker best practices ensures optimal performance and security. We utilized a python:3.9-slim base image to create a lean production environment, significantly reducing the image size. Sensitive configurations, such as the Flask secret key, are managed through environment variables rather than being hardcoded. A critical practice implemented is Volume Management, which persists the SQLite financial data outside the container, ensuring transaction history survives container restarts or updates. Additionally, we optimized the build process by using a .</a:t>
            </a:r>
            <a:r>
              <a:rPr lang="en-US" sz="2431" dirty="0" err="1">
                <a:solidFill>
                  <a:srgbClr val="FFFFFF"/>
                </a:solidFill>
                <a:latin typeface="Koho"/>
                <a:ea typeface="Koho"/>
                <a:cs typeface="Koho"/>
                <a:sym typeface="Koho"/>
              </a:rPr>
              <a:t>dockerignore</a:t>
            </a:r>
            <a:r>
              <a:rPr lang="en-US" sz="2431" dirty="0">
                <a:solidFill>
                  <a:srgbClr val="FFFFFF"/>
                </a:solidFill>
                <a:latin typeface="Koho"/>
                <a:ea typeface="Koho"/>
                <a:cs typeface="Koho"/>
                <a:sym typeface="Koho"/>
              </a:rPr>
              <a:t> file to exclude unnecessary files like __</a:t>
            </a:r>
            <a:r>
              <a:rPr lang="en-US" sz="2431" dirty="0" err="1">
                <a:solidFill>
                  <a:srgbClr val="FFFFFF"/>
                </a:solidFill>
                <a:latin typeface="Koho"/>
                <a:ea typeface="Koho"/>
                <a:cs typeface="Koho"/>
                <a:sym typeface="Koho"/>
              </a:rPr>
              <a:t>pycache</a:t>
            </a:r>
            <a:r>
              <a:rPr lang="en-US" sz="2431" dirty="0">
                <a:solidFill>
                  <a:srgbClr val="FFFFFF"/>
                </a:solidFill>
                <a:latin typeface="Koho"/>
                <a:ea typeface="Koho"/>
                <a:cs typeface="Koho"/>
                <a:sym typeface="Koho"/>
              </a:rPr>
              <a:t>__, further streamlining the deployment on AWS EC2..</a:t>
            </a:r>
          </a:p>
        </p:txBody>
      </p:sp>
      <p:sp>
        <p:nvSpPr>
          <p:cNvPr id="6" name="Freeform 6"/>
          <p:cNvSpPr/>
          <p:nvPr/>
        </p:nvSpPr>
        <p:spPr>
          <a:xfrm rot="-5400000">
            <a:off x="9591501" y="1520888"/>
            <a:ext cx="13836366" cy="7245224"/>
          </a:xfrm>
          <a:custGeom>
            <a:avLst/>
            <a:gdLst/>
            <a:ahLst/>
            <a:cxnLst/>
            <a:rect l="l" t="t" r="r" b="b"/>
            <a:pathLst>
              <a:path w="13836366" h="7245224">
                <a:moveTo>
                  <a:pt x="0" y="0"/>
                </a:moveTo>
                <a:lnTo>
                  <a:pt x="13836366" y="0"/>
                </a:lnTo>
                <a:lnTo>
                  <a:pt x="13836366" y="7245224"/>
                </a:lnTo>
                <a:lnTo>
                  <a:pt x="0" y="724522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TextBox 7"/>
          <p:cNvSpPr txBox="1"/>
          <p:nvPr/>
        </p:nvSpPr>
        <p:spPr>
          <a:xfrm>
            <a:off x="1456048" y="1974386"/>
            <a:ext cx="10894849" cy="1187893"/>
          </a:xfrm>
          <a:prstGeom prst="rect">
            <a:avLst/>
          </a:prstGeom>
        </p:spPr>
        <p:txBody>
          <a:bodyPr lIns="0" tIns="0" rIns="0" bIns="0" rtlCol="0" anchor="t">
            <a:spAutoFit/>
          </a:bodyPr>
          <a:lstStyle/>
          <a:p>
            <a:pPr marL="0" lvl="0" indent="0" algn="l">
              <a:lnSpc>
                <a:spcPts val="8141"/>
              </a:lnSpc>
            </a:pPr>
            <a:r>
              <a:rPr lang="en-US" sz="7141" b="1">
                <a:solidFill>
                  <a:srgbClr val="005FC2"/>
                </a:solidFill>
                <a:latin typeface="Neo Tech Bold"/>
                <a:ea typeface="Neo Tech Bold"/>
                <a:cs typeface="Neo Tech Bold"/>
                <a:sym typeface="Neo Tech Bold"/>
              </a:rPr>
              <a:t>DOCKER BEST PRACTICES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222833" y="3629195"/>
            <a:ext cx="9842334" cy="2086620"/>
          </a:xfrm>
          <a:prstGeom prst="rect">
            <a:avLst/>
          </a:prstGeom>
        </p:spPr>
        <p:txBody>
          <a:bodyPr lIns="0" tIns="0" rIns="0" bIns="0" rtlCol="0" anchor="t">
            <a:spAutoFit/>
          </a:bodyPr>
          <a:lstStyle/>
          <a:p>
            <a:pPr marL="0" lvl="0" indent="0" algn="ctr">
              <a:lnSpc>
                <a:spcPts val="14361"/>
              </a:lnSpc>
            </a:pPr>
            <a:r>
              <a:rPr lang="en-US" sz="12597" b="1">
                <a:solidFill>
                  <a:srgbClr val="005FC2"/>
                </a:solidFill>
                <a:latin typeface="Neo Tech Bold"/>
                <a:ea typeface="Neo Tech Bold"/>
                <a:cs typeface="Neo Tech Bold"/>
                <a:sym typeface="Neo Tech Bold"/>
              </a:rPr>
              <a:t>THANK YOU!</a:t>
            </a:r>
          </a:p>
        </p:txBody>
      </p:sp>
      <p:sp>
        <p:nvSpPr>
          <p:cNvPr id="3" name="Freeform 3"/>
          <p:cNvSpPr/>
          <p:nvPr/>
        </p:nvSpPr>
        <p:spPr>
          <a:xfrm flipH="1">
            <a:off x="13499617" y="-3375063"/>
            <a:ext cx="7161170" cy="10230243"/>
          </a:xfrm>
          <a:custGeom>
            <a:avLst/>
            <a:gdLst/>
            <a:ahLst/>
            <a:cxnLst/>
            <a:rect l="l" t="t" r="r" b="b"/>
            <a:pathLst>
              <a:path w="7161170" h="10230243">
                <a:moveTo>
                  <a:pt x="7161170" y="0"/>
                </a:moveTo>
                <a:lnTo>
                  <a:pt x="0" y="0"/>
                </a:lnTo>
                <a:lnTo>
                  <a:pt x="0" y="10230242"/>
                </a:lnTo>
                <a:lnTo>
                  <a:pt x="7161170" y="10230242"/>
                </a:lnTo>
                <a:lnTo>
                  <a:pt x="716117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TextBox 4"/>
          <p:cNvSpPr txBox="1"/>
          <p:nvPr/>
        </p:nvSpPr>
        <p:spPr>
          <a:xfrm>
            <a:off x="4961309" y="5420149"/>
            <a:ext cx="8365383" cy="416983"/>
          </a:xfrm>
          <a:prstGeom prst="rect">
            <a:avLst/>
          </a:prstGeom>
        </p:spPr>
        <p:txBody>
          <a:bodyPr lIns="0" tIns="0" rIns="0" bIns="0" rtlCol="0" anchor="t">
            <a:spAutoFit/>
          </a:bodyPr>
          <a:lstStyle/>
          <a:p>
            <a:pPr marL="0" lvl="0" indent="0" algn="ctr">
              <a:lnSpc>
                <a:spcPts val="3382"/>
              </a:lnSpc>
            </a:pPr>
            <a:r>
              <a:rPr lang="en-US" sz="2967" b="1">
                <a:solidFill>
                  <a:srgbClr val="005FC2"/>
                </a:solidFill>
                <a:latin typeface="Koho Bold"/>
                <a:ea typeface="Koho Bold"/>
                <a:cs typeface="Koho Bold"/>
                <a:sym typeface="Koho Bold"/>
              </a:rPr>
              <a:t>Finance Tracker - Docker Containerization Project</a:t>
            </a:r>
          </a:p>
        </p:txBody>
      </p:sp>
      <p:sp>
        <p:nvSpPr>
          <p:cNvPr id="5" name="Freeform 5"/>
          <p:cNvSpPr/>
          <p:nvPr/>
        </p:nvSpPr>
        <p:spPr>
          <a:xfrm rot="-151067" flipV="1">
            <a:off x="-1812924" y="4400378"/>
            <a:ext cx="7161170" cy="10230243"/>
          </a:xfrm>
          <a:custGeom>
            <a:avLst/>
            <a:gdLst/>
            <a:ahLst/>
            <a:cxnLst/>
            <a:rect l="l" t="t" r="r" b="b"/>
            <a:pathLst>
              <a:path w="7161170" h="10230243">
                <a:moveTo>
                  <a:pt x="0" y="10230242"/>
                </a:moveTo>
                <a:lnTo>
                  <a:pt x="7161170" y="10230242"/>
                </a:lnTo>
                <a:lnTo>
                  <a:pt x="7161170" y="0"/>
                </a:lnTo>
                <a:lnTo>
                  <a:pt x="0" y="0"/>
                </a:lnTo>
                <a:lnTo>
                  <a:pt x="0" y="10230242"/>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325238" y="-1294162"/>
            <a:ext cx="7793442" cy="4080930"/>
          </a:xfrm>
          <a:custGeom>
            <a:avLst/>
            <a:gdLst/>
            <a:ahLst/>
            <a:cxnLst/>
            <a:rect l="l" t="t" r="r" b="b"/>
            <a:pathLst>
              <a:path w="7793442" h="4080930">
                <a:moveTo>
                  <a:pt x="0" y="0"/>
                </a:moveTo>
                <a:lnTo>
                  <a:pt x="7793442" y="0"/>
                </a:lnTo>
                <a:lnTo>
                  <a:pt x="7793442" y="4080930"/>
                </a:lnTo>
                <a:lnTo>
                  <a:pt x="0" y="408093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10494558" y="7817332"/>
            <a:ext cx="7793442" cy="4080930"/>
          </a:xfrm>
          <a:custGeom>
            <a:avLst/>
            <a:gdLst/>
            <a:ahLst/>
            <a:cxnLst/>
            <a:rect l="l" t="t" r="r" b="b"/>
            <a:pathLst>
              <a:path w="7793442" h="4080930">
                <a:moveTo>
                  <a:pt x="0" y="0"/>
                </a:moveTo>
                <a:lnTo>
                  <a:pt x="7793442" y="0"/>
                </a:lnTo>
                <a:lnTo>
                  <a:pt x="7793442" y="4080930"/>
                </a:lnTo>
                <a:lnTo>
                  <a:pt x="0" y="4080930"/>
                </a:lnTo>
                <a:lnTo>
                  <a:pt x="0"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TotalTime>
  <Words>701</Words>
  <Application>Microsoft Office PowerPoint</Application>
  <PresentationFormat>Custom</PresentationFormat>
  <Paragraphs>33</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Neo Tech Bold</vt:lpstr>
      <vt:lpstr>Koho</vt:lpstr>
      <vt:lpstr>Calibri</vt:lpstr>
      <vt:lpstr>Koho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samarth sable</cp:lastModifiedBy>
  <cp:revision>14</cp:revision>
  <dcterms:created xsi:type="dcterms:W3CDTF">2006-08-16T00:00:00Z</dcterms:created>
  <dcterms:modified xsi:type="dcterms:W3CDTF">2026-04-07T07:23:41Z</dcterms:modified>
  <dc:identifier>DAHGFuc3x14</dc:identifier>
</cp:coreProperties>
</file>